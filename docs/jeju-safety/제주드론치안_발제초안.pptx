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제주가 위험하다는 말로 시작하지 않는다. 자료를 먼저 확인했다는 태도로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마무리: 제주가 먼저 하면 전국이 따라 쓰는 제주형 표준 모델이자, 제주가 수출하는 산업이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515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코리아스타트업포럼 · 제주 혁신 대담 / 정책제안 세션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81328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안에 뜨는 제주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957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 기반 선제 치안 · 구조 체계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88620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안전한 제주를 만들기 위한 정책 제언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[회사명]  ·  [OOO 대표]  ·  2026. 9. 18.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제주는 자원이 부족한 곳이 아닙니다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발제를 준비하며 공개 통계를 먼저 확인했습니다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4944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314명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경찰관 1인당 담당인구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평균 391명보다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오히려 적습니다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61488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19,096대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761488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방범용 CCTV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761488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 1,000명당 28.8대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평균의 두 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81728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28032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85명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통합관제센터 관제요원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5조 3교대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관제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48272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94576" y="178308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9,717건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2331720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CCTV 관제 사고 예방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907792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40% 증가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(2025년)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인력도, 장비도, 관제 체계도 전국 평균보다 앞서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경찰청 경찰통계연보(2024) · 제주특별자치도 CCTV 운영 현황(2025 상반기) — 원자료 재확인 필요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'범죄율 전국 1위'는 분모의 문제입니다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범죄 건수에는 관광객이 들어가고, 분모에는 들어가지 않습니다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886200" cy="1371600"/>
          </a:xfrm>
          <a:prstGeom prst="roundRect">
            <a:avLst>
              <a:gd name="adj" fmla="val 4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공표 범죄 발생비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4,193.8건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87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인구 10만 명당 · 전국 1위 · 분모 66만 명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554480"/>
            <a:ext cx="3886200" cy="1371600"/>
          </a:xfrm>
          <a:prstGeom prst="roundRect">
            <a:avLst>
              <a:gd name="adj" fmla="val 400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93776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생활인구 82만 명으로 보정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659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3,390건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487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평균 3,343건과 거의 같습니다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2596896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2461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1,384만 명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584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제주 방문 관광객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73552" y="3154680"/>
            <a:ext cx="2596896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38144" y="32461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66만 명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38144" y="3584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주민등록인구 (2026. 6.)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98464" y="3154680"/>
            <a:ext cx="2596896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63056" y="324612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82만 명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163056" y="3584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 추계 생활인구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그렇다면 질문이 달라져야 합니다 — 부족하지 않은데, 왜 불안은 줄지 않는가.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경찰청 2025 범죄통계 · 행정안전부 주민등록인구 · 제주도관광협회 / 보정치는 단순 안분에 따른 개략 검산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있는 곳은 두 군데뿐입니다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사람을 더 뽑아서 메울 수 없는 공백입니다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" y="1600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①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18562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자원이 닿지 않는 공간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3042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CCTV 19,096대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55117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전부 고정형 — 정해진 지점만 봅니다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944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산악사고 5년 2,547건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319125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실족·추락 107건 = 작년 한 해의 90.7%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3584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수난사고 6월 70건 → 7월 126건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38313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오름·곶자왈·해안절벽·올레길에는 카메라가 없습니다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82896" y="16002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②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82896" y="18562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자동으로 작동하지 않는 초동 절차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82896" y="23042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성인 실종신고 70,814건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82896" y="255117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전국, 지난해 접수 기준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82896" y="2944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99.7% 수색 없이 종결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882896" y="319125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89.4%는 하루 안에 해제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882896" y="35844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판단은 담당자 재량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882896" y="38313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제주에서 흔들린 것은 범죄율이 아니라 초동대응 신뢰였습니다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하나는 공간의 문제, 하나는 기본 동작의 문제입니다.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제주도 CCTV 운영 현황 · 소방 구조활동 통계 · 경찰청 실종신고 처리 현황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공간의 공백은 '시간'으로 나타납니다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신고가 접수된 시점과, 하늘에서 그곳을 처음 본 시점 사이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 ·  동원형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481328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81328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783080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71800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71800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인력 이동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325112" y="1783080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462272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62272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도착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815584" y="1783080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52744" y="1783080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52744" y="1783080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178308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수십 분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 ·  상시 출동형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481328" y="3090672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E1EEF4"/>
          </a:solidFill>
          <a:ln w="12700">
            <a:solidFill>
              <a:srgbClr val="E1EE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81328" y="30906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3090672"/>
            <a:ext cx="137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971800" y="3090672"/>
            <a:ext cx="1353312" cy="566928"/>
          </a:xfrm>
          <a:prstGeom prst="roundRect">
            <a:avLst>
              <a:gd name="adj" fmla="val 9677"/>
            </a:avLst>
          </a:prstGeom>
          <a:solidFill>
            <a:srgbClr val="E1EEF4"/>
          </a:solidFill>
          <a:ln w="12700">
            <a:solidFill>
              <a:srgbClr val="E1EE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971800" y="30906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이륙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309067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3~5분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실종·조난의 초기 시간이, 장비를 현장까지 옮기는 데 소모됩니다.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7731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95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제주의 112·119 현장 도착 소요시간 실측치는 미공개. '수십 분'은 현행 운용 방식에서 도출한 추정치 — 도가 보유한 실측치 공개를 제언에 포함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DFR — 사람보다 먼저 도착하는 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Drone as First Responder  ·  최초 출동 드론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596896" cy="2240280"/>
          </a:xfrm>
          <a:prstGeom prst="roundRect">
            <a:avLst>
              <a:gd name="adj" fmla="val 2449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79222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395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 · 119 신고 접수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88950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정보가 관제센터로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연동됩니다.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73552" y="1572768"/>
            <a:ext cx="2596896" cy="2240280"/>
          </a:xfrm>
          <a:prstGeom prst="roundRect">
            <a:avLst>
              <a:gd name="adj" fmla="val 2449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3008" y="179222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93008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93008" y="2395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무인 격납고 자동 이륙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288950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출발하기 전에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기체가 먼저 뜹니다.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98464" y="1572768"/>
            <a:ext cx="2596896" cy="2240280"/>
          </a:xfrm>
          <a:prstGeom prst="roundRect">
            <a:avLst>
              <a:gd name="adj" fmla="val 2449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792224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395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영상 공유 · 자동 기록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889504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관제센터와 출동 인력이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봅니다. 로그가 남습니다.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제안이라기보다, 행정 절차 설계에 가까운 제안입니다.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장치가 두 공백을 메웁니다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감시망을 만들자는 제안이 아닙니다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①  공간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751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고정형 관제망의 이동형 확장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19,096대의 카메라와 85명의 관제 인력이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돌아갑니다. 여기에 날아가는 카메라를 붙입니다.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9204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공백 ②  절차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751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재량을 기본 동작으로 · 제3의 기록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3317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판단과 무관하게 공중 확인이 수행되고, 비행·촬영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담당자 보고와 다른 계통에 남습니다.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5468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1089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현행  ·  동원형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제안  ·  상시 출동형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상공 확보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수십 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~ 5분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야간 · 저시정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사실상 제한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열화상 + 자동비행으로 상시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역할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사후 수색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선제 인지 + 출동 유도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보고에 의존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24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출동 · 확인 자동 로그 (별도 계통)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제주에서 가능한가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네 가지가 동시에 갖춰진 곳은 제주뿐입니다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4944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유일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자치경찰단 169명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제주특별법 제88조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도지사 소속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761488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최초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761488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치안드론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61488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국비 8억 · 도비 2억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현장 투입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81728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28032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최대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드론특별자유화구역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1,283㎢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 연장(2027.6) 신청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48272" y="1572768"/>
            <a:ext cx="1883664" cy="2331720"/>
          </a:xfrm>
          <a:prstGeom prst="roundRect">
            <a:avLst>
              <a:gd name="adj" fmla="val 2913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894576" y="178308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1,543명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94576" y="2212848"/>
            <a:ext cx="1591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민관 공동체 치안망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94576" y="2834640"/>
            <a:ext cx="15910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주민자치경찰대 · 시니어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민간경비 · 민간드론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사업을 만들자는 제안이 아닙니다. 있는 자산을 하나의 출동 체계로 잇자는 제안입니다.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제언 ①   거점 — '3분 도달' 네트워크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부지가 아니라, 있는 시설 위에 얹는 방식입니다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743200" cy="1325880"/>
          </a:xfrm>
          <a:prstGeom prst="roundRect">
            <a:avLst>
              <a:gd name="adj" fmla="val 4138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09344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3957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이내 현장 상공 도달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31546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부지 불필요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747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자치경찰 지구대 · CCTV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통합관제센터에 무인 격납고를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병설하는 구조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157276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시범 대상지(안)   ·   8개소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11880" y="2011680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39896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제주시 동부 권역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53912" y="2011680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1928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제주시 서부 권역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11880" y="2578608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39896" y="25786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서귀포 시가지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53912" y="2578608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81928" y="25786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애월 해안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11880" y="3145536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39896" y="31455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성산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53912" y="3145536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81928" y="31455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11880" y="3712464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39896" y="37124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한라산 주요 탐방로 진입부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53912" y="3712464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81928" y="37124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올레길 위험 구간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437083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배치 우선순위는 도가 이미 운영 중인 인구빅데이터(생활인구·입도객)로 결정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제언 ②   규제 — 특구 연장에 한 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제언 중 가장 빠르고, 가장 적은 비용으로 가능합니다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1,283㎢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39572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최대 규모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드론특별자유화구역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9067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2021년 1차 지정 이후 운영 중이며,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 연장(2027. 6.)을 신청한 상태입니다.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572768"/>
            <a:ext cx="3931920" cy="2194560"/>
          </a:xfrm>
          <a:prstGeom prst="roundRect">
            <a:avLst>
              <a:gd name="adj" fmla="val 250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93776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신청서에 담아 주십시오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19456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치안 · 구조 목적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비가시권(BVLOS) · 야간비행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승인 트랙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DFR 체계의 기술적 전제가 바로 이 두 가지입니다.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0523C"/>
          </a:solidFill>
          <a:ln w="12700">
            <a:solidFill>
              <a:srgbClr val="E052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2336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 입법을 기다릴 필요가 없습니다 — 제주도 권한 안에서, 신청서 한 줄로 열리는 문입니다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제언 ③   거버넌스 — 조례가 곧 면허증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기체를 띄우기 전에 원칙을 먼저 세웁니다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사실 표시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4825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어디서 촬영되는지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도민이 알 수 있게 한다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572768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864608" y="1700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 외 이용 금지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204825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기반 출동 원칙,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상시 배회 감시가 아니다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49808" y="296265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보관기간 · 접근 로그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33101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어떤 영상을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열람했는지 자동 기록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834640"/>
            <a:ext cx="3931920" cy="1115568"/>
          </a:xfrm>
          <a:prstGeom prst="roundRect">
            <a:avLst>
              <a:gd name="adj" fmla="val 4918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864608" y="296265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도민 감시기구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33101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실태를 도민이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점검한다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605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 민간 드론 인력 등록제 · 출동 계약제 — 자원봉사가 아니라 산업으로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4805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＋  도착 소요시간 · 초동 확인 수행률을 정기 공개 — 괴담은 확인할 방법이 없을 때 자랍니다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인프라, 여러 임무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치안 예산만으로 짓는 시설이 아닙니다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48132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9264" y="157276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치안 · 구조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86537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실종 수색 · 순찰 · 인파 관리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852160" y="148132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98464" y="157276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재난 대응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98464" y="186537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호우 · 산불 초기 확산 경로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340156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9264" y="349300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수자원 점검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78561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하천 · 저수지 · 급경사지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52160" y="3401568"/>
            <a:ext cx="2468880" cy="749808"/>
          </a:xfrm>
          <a:prstGeom prst="roundRect">
            <a:avLst>
              <a:gd name="adj" fmla="val 7317"/>
            </a:avLst>
          </a:prstGeom>
          <a:solidFill>
            <a:srgbClr val="F2F6F9"/>
          </a:solidFill>
          <a:ln w="12700">
            <a:solidFill>
              <a:srgbClr val="E3EA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98464" y="349300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모니터링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98464" y="378561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해안 침식 · 해양쓰레기 유입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20440" y="22860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10243A"/>
          </a:solidFill>
          <a:ln w="12700">
            <a:solidFill>
              <a:srgbClr val="1024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B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20440" y="22860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드론 스테이션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407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4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부서가 나눠 쓰면 비용은 줄고 가동률은 올라갑니다 — '기후경제수도 제주' 비전과 맞물리는 지점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로드맵과 지표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4183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2027년에 데이터로 증명합니다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4분기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특구 연장 신청 반영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조례안 입안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도착시간 실측 공개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96896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43200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상반기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스테이션 2~3개소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치안드론 연계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도달시간 측정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45152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91456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하반기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791456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8개소 확대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112·119·해경 공동대응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민간 출동 계약제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693408" y="1481328"/>
            <a:ext cx="1901952" cy="1691640"/>
          </a:xfrm>
          <a:prstGeom prst="roundRect">
            <a:avLst>
              <a:gd name="adj" fmla="val 3243"/>
            </a:avLst>
          </a:prstGeom>
          <a:solidFill>
            <a:srgbClr val="1B3A57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39712" y="15910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839712" y="184708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정착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839712" y="2212848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 전역 운영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공동 활용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제주형 표준모델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3101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B4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지표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신고~상공 도달 시간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85416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258568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초동 확인 자동 수행률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822192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95344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야간 순찰 커버리지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58968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32120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체감 안전도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095744" y="3611880"/>
            <a:ext cx="1517904" cy="566928"/>
          </a:xfrm>
          <a:prstGeom prst="roundRect">
            <a:avLst>
              <a:gd name="adj" fmla="val 9677"/>
            </a:avLst>
          </a:prstGeom>
          <a:solidFill>
            <a:srgbClr val="16334D"/>
          </a:solidFill>
          <a:ln w="12700">
            <a:solidFill>
              <a:srgbClr val="27506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68896" y="36118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인력 절감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40740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"신고 3분 뒤 하늘에서 그곳을 볼 수 있는가, 그 확인이 기록으로 남는가"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3분 안에 뜨는 제주</dc:title>
  <dc:subject>PptxGenJS Presentation</dc:subject>
  <dc:creator>PptxGenJS</dc:creator>
  <cp:lastModifiedBy>PptxGenJS</cp:lastModifiedBy>
  <cp:revision>1</cp:revision>
  <dcterms:created xsi:type="dcterms:W3CDTF">2026-09-12T06:30:01Z</dcterms:created>
  <dcterms:modified xsi:type="dcterms:W3CDTF">2026-09-12T06:30:01Z</dcterms:modified>
</cp:coreProperties>
</file>