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도정이 이미 잘하고 있는 것을 인정하는 데서 출발한다. 비판이 아니라 보완 제안임을 톤으로 전달할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제주가 먼저 하면 전국이 따라 쓰는 제주형 표준 모델이자, 제주가 수출하는 산업이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51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코리아스타트업포럼 · 제주 혁신 대담 / 정책제안 세션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813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안에 뜨는 제주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95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기반 선제 치안 · 구조 체계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86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제주를 만들기 위한 정책 제언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[회사명]  ·  [OOO 대표]  ·  2026. 9. 18.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제주가 이미 가진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자산은 이미 갖춰져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883664" cy="2331720"/>
          </a:xfrm>
          <a:prstGeom prst="roundRect">
            <a:avLst>
              <a:gd name="adj" fmla="val 2913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4944" y="17830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3317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유일 자치경찰단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90779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도지사가 직접 지휘하는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치안 자원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1572768"/>
            <a:ext cx="1883664" cy="2331720"/>
          </a:xfrm>
          <a:prstGeom prst="roundRect">
            <a:avLst>
              <a:gd name="adj" fmla="val 2913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61488" y="17830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23317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 AI 치안드론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90779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현장 투입 예정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(국비 8억 · 도비 2억)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572768"/>
            <a:ext cx="1883664" cy="2331720"/>
          </a:xfrm>
          <a:prstGeom prst="roundRect">
            <a:avLst>
              <a:gd name="adj" fmla="val 2913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28032" y="17830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1,283㎢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3317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최대 드론특구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90779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비가시권 · 야간 실증이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제도적으로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572768"/>
            <a:ext cx="1883664" cy="2331720"/>
          </a:xfrm>
          <a:prstGeom prst="roundRect">
            <a:avLst>
              <a:gd name="adj" fmla="val 2913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94576" y="17830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1,543명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33172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민관 공동체 치안망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907792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주민자치경찰대 · 시니어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민간경비 · 민간드론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사업을 만들자는 제안이 아닙니다. 있는 자산을 잇자는 제안입니다.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왜 불안은 줄지 않는가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자산을 잇는 한 칸이 비어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83664" cy="777240"/>
          </a:xfrm>
          <a:prstGeom prst="roundRect">
            <a:avLst>
              <a:gd name="adj" fmla="val 7059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자치경찰단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15184" y="1600200"/>
            <a:ext cx="1883664" cy="777240"/>
          </a:xfrm>
          <a:prstGeom prst="roundRect">
            <a:avLst>
              <a:gd name="adj" fmla="val 7059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6002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치안드론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1728" y="1600200"/>
            <a:ext cx="1883664" cy="777240"/>
          </a:xfrm>
          <a:prstGeom prst="roundRect">
            <a:avLst>
              <a:gd name="adj" fmla="val 7059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16002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드론특구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48272" y="1600200"/>
            <a:ext cx="1883664" cy="777240"/>
          </a:xfrm>
          <a:prstGeom prst="roundRect">
            <a:avLst>
              <a:gd name="adj" fmla="val 7059"/>
            </a:avLst>
          </a:prstGeom>
          <a:solidFill>
            <a:srgbClr val="1B3A57"/>
          </a:solidFill>
          <a:ln w="12700">
            <a:solidFill>
              <a:srgbClr val="1B3A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48272" y="16002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공동체 치안망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046720" cy="1051560"/>
          </a:xfrm>
          <a:prstGeom prst="roundRect">
            <a:avLst>
              <a:gd name="adj" fmla="val 3478"/>
            </a:avLst>
          </a:prstGeom>
          <a:solidFill>
            <a:srgbClr val="10243A"/>
          </a:solidFill>
          <a:ln w="25400">
            <a:solidFill>
              <a:srgbClr val="E0523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40080" y="27432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것 :  신고 즉시 뜨는 '출동 체계'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기체가 없어서가 아니라, 기체를 배치하는 방식이 비어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'시간'입니다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신고가 접수된 시점과, 하늘에서 그곳을 처음 본 시점 사이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 ·  동원형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928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81328" y="1783080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81328" y="1783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접수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8308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71800" y="1783080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1783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이동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178308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62272" y="1783080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1783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도착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815584" y="1783080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52744" y="1783080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FBE7E3"/>
          </a:solidFill>
          <a:ln w="12700">
            <a:solidFill>
              <a:srgbClr val="FB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2744" y="178308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이륙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05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분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 ·  상시 출동형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81328" y="3090672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E1EEF4"/>
          </a:solidFill>
          <a:ln w="12700">
            <a:solidFill>
              <a:srgbClr val="E1EE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81328" y="30906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접수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090672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71800" y="3090672"/>
            <a:ext cx="1353312" cy="566928"/>
          </a:xfrm>
          <a:prstGeom prst="roundRect">
            <a:avLst>
              <a:gd name="adj" fmla="val 9677"/>
            </a:avLst>
          </a:prstGeom>
          <a:solidFill>
            <a:srgbClr val="E1EEF4"/>
          </a:solidFill>
          <a:ln w="12700">
            <a:solidFill>
              <a:srgbClr val="E1EE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71800" y="309067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이륙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0906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3~5분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실종·조난의 초기 3시간이, 장비를 현장까지 옮기는 데 소모되고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순찰이 닿지 않는 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사고와 실종은 도심이 아니라 이곳에 몰립니다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7335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올레길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1396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오름 · 곶자왈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807208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7066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해안 절벽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374136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273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해수욕장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941064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840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한라산 주요 탐방로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536192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377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순찰차가 들어갈 수 없는 곳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9572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인력을 아무리 늘려도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시간은 줄지 않는 구조입니다.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하늘에서 접근하는 수단이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인력을 대신하는 것이 아니라,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인력이 갈 곳을 정해 줍니다.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1,850㎢, 해안선과 중산간이 함께 있는 제주의 지형 조건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DFR — 사람보다 먼저 도착하는 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Drone as First Responder  ·  최초 출동 드론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96896" cy="2240280"/>
          </a:xfrm>
          <a:prstGeom prst="roundRect">
            <a:avLst>
              <a:gd name="adj" fmla="val 2449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9222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95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 · 119 신고 접수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89504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정보가 관제센터로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연동됩니다.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572768"/>
            <a:ext cx="2596896" cy="2240280"/>
          </a:xfrm>
          <a:prstGeom prst="roundRect">
            <a:avLst>
              <a:gd name="adj" fmla="val 2449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79222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395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격납고 자동 이륙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9504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출발하기 전에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기체가 먼저 뜹니다.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1572768"/>
            <a:ext cx="2596896" cy="2240280"/>
          </a:xfrm>
          <a:prstGeom prst="roundRect">
            <a:avLst>
              <a:gd name="adj" fmla="val 2449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39572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영상 공유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889504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관제센터와 출동 인력이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현장을 봅니다.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아무리 좋아도 기체가 30분 뒤에 뜨면 소용이 없습니다. 그 AI를 태울 출동 체계가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기체라도 배치를 바꾸면 역할이 달라집니다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현행  ·  동원형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  ·  상시 출동형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이륙 주체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현장에 도착한 조종 인력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관제센터 원격 · 자동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수십 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~ 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야간 · 저시정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사실상 제한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열화상 + 자동비행으로 상시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사후 수색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선제 인지 + 출동 유도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 소모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건당 다수 투입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1명이 다수 거점 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출동 인력이 '가기 전에' 현장을 봅니다. 한정된 인력을 꼭 필요한 곳에 쓰게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①   거점 — '3분 도달' 네트워크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부지가 아니라, 있는 시설 위에 얹는 방식입니다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09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이내 현장 상공 도달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부지 불필요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74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자치경찰 지구대 · CCTV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통합관제센터에 무인 격납고를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병설하는 구조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5727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시범 대상지(안)   ·   8개소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2011680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9896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제주시 동부 권역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2011680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제주시 서부 권역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2578608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9896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서귀포 시가지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2578608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1928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애월 해안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3145536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9896" y="3145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53912" y="3145536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1928" y="3145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11880" y="3712464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39896" y="37124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한라산 주요 탐방로 진입부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53912" y="3712464"/>
            <a:ext cx="239572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81928" y="37124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올레길 위험 구간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37083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시간과 발견율 데이터를 확보한 뒤 도 전역으로 확대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②   규제 — 특구 연장에 한 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제언 중 가장 빠르고, 가장 적은 비용으로 가능합니다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1,283㎢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957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최대 규모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드론특별자유화구역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906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2021년 1차 지정 이후 운영 중이며,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 연장(2027. 6.)을 신청한 상태입니다.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72768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연장 신청서에 담아 주십시오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94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치안 · 구조 목적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비가시권(BVLOS) · 야간비행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승인 트랙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DFR 체계의 기술적 전제가 바로 이 두 가지입니다.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E0523C"/>
          </a:solidFill>
          <a:ln w="12700">
            <a:solidFill>
              <a:srgbClr val="E05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 입법을 기다릴 필요가 없습니다 — 제주도 권한 안에서, 신청서 한 줄로 열리는 문입니다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 ③   거버넌스 — 조례가 곧 면허증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기체를 띄우기 전에 원칙을 먼저 세웁니다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31920" cy="1115568"/>
          </a:xfrm>
          <a:prstGeom prst="roundRect">
            <a:avLst>
              <a:gd name="adj" fmla="val 4918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00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사실 표시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482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어디서 촬영되는지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도민이 알 수 있게 한다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72768"/>
            <a:ext cx="3931920" cy="1115568"/>
          </a:xfrm>
          <a:prstGeom prst="roundRect">
            <a:avLst>
              <a:gd name="adj" fmla="val 4918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64608" y="1700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외 이용 금지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20482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기반 출동 원칙,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배회 감시가 아니다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931920" cy="1115568"/>
          </a:xfrm>
          <a:prstGeom prst="roundRect">
            <a:avLst>
              <a:gd name="adj" fmla="val 4918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" y="29626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보관기간 · 접근 로그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3101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언제 어떤 영상을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열람했는지 자동 기록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115568"/>
          </a:xfrm>
          <a:prstGeom prst="roundRect">
            <a:avLst>
              <a:gd name="adj" fmla="val 4918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64608" y="29626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도민 감시기구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33101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실태를 도민이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점검한다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 민간 드론 인력 등록제 · 출동 계약제 — 자원봉사가 아니라 산업으로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인프라, 여러 임무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치안 예산만으로 짓는 시설이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5727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치안 · 구조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18653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실종 수색 · 순찰 · 인파 관리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48132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98464" y="15727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 대응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98464" y="18653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호우 · 산불 초기 확산 경로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4930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수자원 점검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7856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하천 · 저수지 · 급경사지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340156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2F6F9"/>
          </a:solidFill>
          <a:ln w="12700">
            <a:solidFill>
              <a:srgbClr val="E3E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98464" y="34930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모니터링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37856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해안 침식 · 해양쓰레기 유입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22860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B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204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스테이션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부서가 나눠 쓰면 비용은 줄고 가동률은 올라갑니다 — '기후경제수도 제주' 비전과 맞물리는 지점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로드맵과 지표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2027년에 데이터로 증명합니다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901952" cy="1691640"/>
          </a:xfrm>
          <a:prstGeom prst="roundRect">
            <a:avLst>
              <a:gd name="adj" fmla="val 3243"/>
            </a:avLst>
          </a:prstGeom>
          <a:solidFill>
            <a:srgbClr val="1B3A57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4944" y="15910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4분기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18470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12848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특구 연장 신청 반영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조례안 입안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대상지 선정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96896" y="1481328"/>
            <a:ext cx="1901952" cy="1691640"/>
          </a:xfrm>
          <a:prstGeom prst="roundRect">
            <a:avLst>
              <a:gd name="adj" fmla="val 3243"/>
            </a:avLst>
          </a:prstGeom>
          <a:solidFill>
            <a:srgbClr val="1B3A57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910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상반기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8470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212848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스테이션 2~3개소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치안드론 연계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도달시간 측정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481328"/>
            <a:ext cx="1901952" cy="1691640"/>
          </a:xfrm>
          <a:prstGeom prst="roundRect">
            <a:avLst>
              <a:gd name="adj" fmla="val 3243"/>
            </a:avLst>
          </a:prstGeom>
          <a:solidFill>
            <a:srgbClr val="1B3A57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91456" y="15910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하반기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8470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212848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8개소 확대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112·119·해경 공동대응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 출동 계약제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93408" y="1481328"/>
            <a:ext cx="1901952" cy="1691640"/>
          </a:xfrm>
          <a:prstGeom prst="roundRect">
            <a:avLst>
              <a:gd name="adj" fmla="val 3243"/>
            </a:avLst>
          </a:prstGeom>
          <a:solidFill>
            <a:srgbClr val="1B3A57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9712" y="15910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8470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212848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전역 운영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공동 활용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제주형 표준모델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지표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517904" cy="566928"/>
          </a:xfrm>
          <a:prstGeom prst="roundRect">
            <a:avLst>
              <a:gd name="adj" fmla="val 9677"/>
            </a:avLst>
          </a:prstGeom>
          <a:solidFill>
            <a:srgbClr val="16334D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신고~상공 도달 시간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85416" y="3611880"/>
            <a:ext cx="1517904" cy="566928"/>
          </a:xfrm>
          <a:prstGeom prst="roundRect">
            <a:avLst>
              <a:gd name="adj" fmla="val 9677"/>
            </a:avLst>
          </a:prstGeom>
          <a:solidFill>
            <a:srgbClr val="16334D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58568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3시간 내 발견율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22192" y="3611880"/>
            <a:ext cx="1517904" cy="566928"/>
          </a:xfrm>
          <a:prstGeom prst="roundRect">
            <a:avLst>
              <a:gd name="adj" fmla="val 9677"/>
            </a:avLst>
          </a:prstGeom>
          <a:solidFill>
            <a:srgbClr val="16334D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95344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순찰 커버리지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58968" y="3611880"/>
            <a:ext cx="1517904" cy="566928"/>
          </a:xfrm>
          <a:prstGeom prst="roundRect">
            <a:avLst>
              <a:gd name="adj" fmla="val 9677"/>
            </a:avLst>
          </a:prstGeom>
          <a:solidFill>
            <a:srgbClr val="16334D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32120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 안전도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95744" y="3611880"/>
            <a:ext cx="1517904" cy="566928"/>
          </a:xfrm>
          <a:prstGeom prst="roundRect">
            <a:avLst>
              <a:gd name="adj" fmla="val 9677"/>
            </a:avLst>
          </a:prstGeom>
          <a:solidFill>
            <a:srgbClr val="16334D"/>
          </a:solidFill>
          <a:ln w="12700">
            <a:solidFill>
              <a:srgbClr val="2750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68896" y="36118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출동 인력 절감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074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"신고가 들어오고 3분 뒤, 하늘에서 그곳을 볼 수 있는가"  —  그것이 안전의 실질입니다.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3분 안에 뜨는 제주</dc:title>
  <dc:subject>PptxGenJS Presentation</dc:subject>
  <dc:creator/>
  <cp:lastModifiedBy/>
  <cp:revision>1</cp:revision>
  <dcterms:created xsi:type="dcterms:W3CDTF">2026-09-12T05:34:18Z</dcterms:created>
  <dcterms:modified xsi:type="dcterms:W3CDTF">2026-09-12T05:34:18Z</dcterms:modified>
</cp:coreProperties>
</file>